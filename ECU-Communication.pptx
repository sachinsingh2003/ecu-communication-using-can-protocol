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9DCCA"/>
          </a:solidFill>
        </a:fill>
      </a:tcStyle>
    </a:wholeTbl>
    <a:band2H>
      <a:tcTxStyle/>
      <a:tcStyle>
        <a:tcBdr/>
        <a:fill>
          <a:solidFill>
            <a:srgbClr val="FCEE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EE3D4"/>
          </a:solidFill>
        </a:fill>
      </a:tcStyle>
    </a:wholeTbl>
    <a:band2H>
      <a:tcTxStyle/>
      <a:tcStyle>
        <a:tcBdr/>
        <a:fill>
          <a:solidFill>
            <a:srgbClr val="E8F2EB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DD7D1"/>
          </a:solidFill>
        </a:fill>
      </a:tcStyle>
    </a:wholeTbl>
    <a:band2H>
      <a:tcTxStyle/>
      <a:tcStyle>
        <a:tcBdr/>
        <a:fill>
          <a:solidFill>
            <a:srgbClr val="FEEC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6" name="Shape 23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defTabSz="457200" latinLnBrk="0">
      <a:defRPr sz="1200">
        <a:solidFill>
          <a:srgbClr val="FFFFFF"/>
        </a:solidFill>
        <a:latin typeface="+mn-lt"/>
        <a:ea typeface="+mn-ea"/>
        <a:cs typeface="+mn-cs"/>
        <a:sym typeface="Trebuchet MS"/>
      </a:defRPr>
    </a:lvl1pPr>
    <a:lvl2pPr indent="228600" defTabSz="457200" latinLnBrk="0">
      <a:defRPr sz="1200">
        <a:solidFill>
          <a:srgbClr val="FFFFFF"/>
        </a:solidFill>
        <a:latin typeface="+mn-lt"/>
        <a:ea typeface="+mn-ea"/>
        <a:cs typeface="+mn-cs"/>
        <a:sym typeface="Trebuchet MS"/>
      </a:defRPr>
    </a:lvl2pPr>
    <a:lvl3pPr indent="457200" defTabSz="457200" latinLnBrk="0">
      <a:defRPr sz="1200">
        <a:solidFill>
          <a:srgbClr val="FFFFFF"/>
        </a:solidFill>
        <a:latin typeface="+mn-lt"/>
        <a:ea typeface="+mn-ea"/>
        <a:cs typeface="+mn-cs"/>
        <a:sym typeface="Trebuchet MS"/>
      </a:defRPr>
    </a:lvl3pPr>
    <a:lvl4pPr indent="685800" defTabSz="457200" latinLnBrk="0">
      <a:defRPr sz="1200">
        <a:solidFill>
          <a:srgbClr val="FFFFFF"/>
        </a:solidFill>
        <a:latin typeface="+mn-lt"/>
        <a:ea typeface="+mn-ea"/>
        <a:cs typeface="+mn-cs"/>
        <a:sym typeface="Trebuchet MS"/>
      </a:defRPr>
    </a:lvl4pPr>
    <a:lvl5pPr indent="914400" defTabSz="457200" latinLnBrk="0">
      <a:defRPr sz="1200">
        <a:solidFill>
          <a:srgbClr val="FFFFFF"/>
        </a:solidFill>
        <a:latin typeface="+mn-lt"/>
        <a:ea typeface="+mn-ea"/>
        <a:cs typeface="+mn-cs"/>
        <a:sym typeface="Trebuchet MS"/>
      </a:defRPr>
    </a:lvl5pPr>
    <a:lvl6pPr indent="1143000" defTabSz="457200" latinLnBrk="0">
      <a:defRPr sz="1200">
        <a:solidFill>
          <a:srgbClr val="FFFFFF"/>
        </a:solidFill>
        <a:latin typeface="+mn-lt"/>
        <a:ea typeface="+mn-ea"/>
        <a:cs typeface="+mn-cs"/>
        <a:sym typeface="Trebuchet MS"/>
      </a:defRPr>
    </a:lvl6pPr>
    <a:lvl7pPr indent="1371600" defTabSz="457200" latinLnBrk="0">
      <a:defRPr sz="1200">
        <a:solidFill>
          <a:srgbClr val="FFFFFF"/>
        </a:solidFill>
        <a:latin typeface="+mn-lt"/>
        <a:ea typeface="+mn-ea"/>
        <a:cs typeface="+mn-cs"/>
        <a:sym typeface="Trebuchet MS"/>
      </a:defRPr>
    </a:lvl7pPr>
    <a:lvl8pPr indent="1600200" defTabSz="457200" latinLnBrk="0">
      <a:defRPr sz="1200">
        <a:solidFill>
          <a:srgbClr val="FFFFFF"/>
        </a:solidFill>
        <a:latin typeface="+mn-lt"/>
        <a:ea typeface="+mn-ea"/>
        <a:cs typeface="+mn-cs"/>
        <a:sym typeface="Trebuchet MS"/>
      </a:defRPr>
    </a:lvl8pPr>
    <a:lvl9pPr indent="1828800" defTabSz="457200" latinLnBrk="0">
      <a:defRPr sz="1200">
        <a:solidFill>
          <a:srgbClr val="FFFFFF"/>
        </a:solidFill>
        <a:latin typeface="+mn-lt"/>
        <a:ea typeface="+mn-ea"/>
        <a:cs typeface="+mn-cs"/>
        <a:sym typeface="Trebuchet M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423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904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341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68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912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175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466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990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081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752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667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49148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885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223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362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476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869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4693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ectror.com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le 1"/>
          <p:cNvSpPr txBox="1">
            <a:spLocks noGrp="1"/>
          </p:cNvSpPr>
          <p:nvPr>
            <p:ph type="ctrTitle"/>
          </p:nvPr>
        </p:nvSpPr>
        <p:spPr>
          <a:xfrm>
            <a:off x="2356701" y="2158673"/>
            <a:ext cx="9835300" cy="1597894"/>
          </a:xfrm>
          <a:prstGeom prst="rect">
            <a:avLst/>
          </a:prstGeom>
        </p:spPr>
        <p:txBody>
          <a:bodyPr/>
          <a:lstStyle/>
          <a:p>
            <a:pPr>
              <a:defRPr sz="4400" b="1" i="1"/>
            </a:pPr>
            <a:r>
              <a:rPr dirty="0"/>
              <a:t>Automotive ECU Communication </a:t>
            </a:r>
            <a:br>
              <a:rPr dirty="0"/>
            </a:br>
            <a:r>
              <a:rPr lang="en-IN" dirty="0"/>
              <a:t>Framework</a:t>
            </a:r>
            <a:r>
              <a:rPr dirty="0"/>
              <a:t> Using CAN Protocol</a:t>
            </a:r>
          </a:p>
        </p:txBody>
      </p:sp>
      <p:sp>
        <p:nvSpPr>
          <p:cNvPr id="239" name="Subtitle 2"/>
          <p:cNvSpPr txBox="1">
            <a:spLocks noGrp="1"/>
          </p:cNvSpPr>
          <p:nvPr>
            <p:ph type="subTitle" idx="1"/>
          </p:nvPr>
        </p:nvSpPr>
        <p:spPr>
          <a:xfrm>
            <a:off x="0" y="131394"/>
            <a:ext cx="12192000" cy="55537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ctr" defTabSz="658368">
              <a:spcBef>
                <a:spcPts val="700"/>
              </a:spcBef>
              <a:defRPr sz="3168" b="1" i="1">
                <a:latin typeface="Abadi"/>
                <a:ea typeface="Abadi"/>
                <a:cs typeface="Abadi"/>
                <a:sym typeface="Abadi"/>
              </a:defRPr>
            </a:lvl1pPr>
          </a:lstStyle>
          <a:p>
            <a:r>
              <a:t>VECTOR INDIA PVT LTD</a:t>
            </a:r>
          </a:p>
        </p:txBody>
      </p:sp>
      <p:pic>
        <p:nvPicPr>
          <p:cNvPr id="240" name="Picture 4" descr="Picture 4"/>
          <p:cNvPicPr>
            <a:picLocks noChangeAspect="1"/>
          </p:cNvPicPr>
          <p:nvPr/>
        </p:nvPicPr>
        <p:blipFill>
          <a:blip r:embed="rId2"/>
          <a:srcRect l="21577" t="18945" r="21478" b="15352"/>
          <a:stretch>
            <a:fillRect/>
          </a:stretch>
        </p:blipFill>
        <p:spPr>
          <a:xfrm>
            <a:off x="5535561" y="866761"/>
            <a:ext cx="1120878" cy="1435511"/>
          </a:xfrm>
          <a:prstGeom prst="rect">
            <a:avLst/>
          </a:prstGeom>
          <a:ln w="12700">
            <a:miter lim="400000"/>
          </a:ln>
        </p:spPr>
      </p:pic>
      <p:sp>
        <p:nvSpPr>
          <p:cNvPr id="241" name="TextBox 5"/>
          <p:cNvSpPr txBox="1"/>
          <p:nvPr/>
        </p:nvSpPr>
        <p:spPr>
          <a:xfrm>
            <a:off x="6485740" y="4573127"/>
            <a:ext cx="5613622" cy="1785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 u="sng">
                <a:solidFill>
                  <a:srgbClr val="FFFFFF"/>
                </a:solidFill>
              </a:defRPr>
            </a:pPr>
            <a:r>
              <a:rPr dirty="0"/>
              <a:t>PROJECT MEMBERS</a:t>
            </a:r>
            <a:r>
              <a:rPr u="none" dirty="0"/>
              <a:t>:</a:t>
            </a:r>
          </a:p>
          <a:p>
            <a:pPr>
              <a:defRPr>
                <a:solidFill>
                  <a:srgbClr val="FFFFFF"/>
                </a:solidFill>
              </a:defRPr>
            </a:pPr>
            <a:endParaRPr u="none" dirty="0"/>
          </a:p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V25BE</a:t>
            </a:r>
            <a:r>
              <a:rPr lang="en-IN" dirty="0"/>
              <a:t>4</a:t>
            </a:r>
            <a:r>
              <a:rPr dirty="0"/>
              <a:t>K</a:t>
            </a:r>
            <a:r>
              <a:rPr lang="en-IN" dirty="0"/>
              <a:t>8</a:t>
            </a:r>
            <a:r>
              <a:rPr dirty="0"/>
              <a:t>		</a:t>
            </a:r>
            <a:r>
              <a:rPr lang="en-IN" dirty="0" err="1"/>
              <a:t>Kammara</a:t>
            </a:r>
            <a:r>
              <a:rPr lang="en-IN" dirty="0"/>
              <a:t> </a:t>
            </a:r>
            <a:r>
              <a:rPr lang="en-IN" dirty="0" err="1"/>
              <a:t>Himasagarachari</a:t>
            </a:r>
            <a:endParaRPr dirty="0"/>
          </a:p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V25BE</a:t>
            </a:r>
            <a:r>
              <a:rPr lang="en-IN" dirty="0"/>
              <a:t>4S1</a:t>
            </a:r>
            <a:r>
              <a:rPr dirty="0"/>
              <a:t>		</a:t>
            </a:r>
            <a:r>
              <a:rPr lang="en-IN" dirty="0"/>
              <a:t>Sachin Rawat</a:t>
            </a:r>
            <a:r>
              <a:rPr dirty="0"/>
              <a:t>	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V25BE</a:t>
            </a:r>
            <a:r>
              <a:rPr lang="en-IN" dirty="0"/>
              <a:t>4S26</a:t>
            </a:r>
            <a:r>
              <a:rPr dirty="0"/>
              <a:t>		</a:t>
            </a:r>
            <a:r>
              <a:rPr lang="en-IN" dirty="0"/>
              <a:t>Shivani V</a:t>
            </a:r>
            <a:endParaRPr dirty="0"/>
          </a:p>
          <a:p>
            <a:pPr>
              <a:defRPr>
                <a:solidFill>
                  <a:srgbClr val="FFFFFF"/>
                </a:solidFill>
              </a:defRPr>
            </a:pP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CONTENTS</a:t>
            </a:r>
          </a:p>
        </p:txBody>
      </p:sp>
      <p:sp>
        <p:nvSpPr>
          <p:cNvPr id="244" name="Content Placeholder 2"/>
          <p:cNvSpPr txBox="1">
            <a:spLocks noGrp="1"/>
          </p:cNvSpPr>
          <p:nvPr>
            <p:ph idx="1"/>
          </p:nvPr>
        </p:nvSpPr>
        <p:spPr>
          <a:xfrm>
            <a:off x="746308" y="1940947"/>
            <a:ext cx="9613863" cy="4123562"/>
          </a:xfrm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r>
              <a:rPr dirty="0"/>
              <a:t>Introduction</a:t>
            </a:r>
          </a:p>
          <a:p>
            <a:r>
              <a:rPr dirty="0"/>
              <a:t>Problem and Objective</a:t>
            </a:r>
          </a:p>
          <a:p>
            <a:r>
              <a:rPr dirty="0"/>
              <a:t>Literature Survey</a:t>
            </a:r>
          </a:p>
          <a:p>
            <a:r>
              <a:rPr dirty="0"/>
              <a:t>Proposed System</a:t>
            </a:r>
          </a:p>
          <a:p>
            <a:r>
              <a:rPr dirty="0"/>
              <a:t>Hardware/Software Used</a:t>
            </a:r>
          </a:p>
          <a:p>
            <a:r>
              <a:rPr dirty="0"/>
              <a:t>Implementation</a:t>
            </a:r>
          </a:p>
          <a:p>
            <a:r>
              <a:rPr dirty="0"/>
              <a:t>Results</a:t>
            </a:r>
          </a:p>
          <a:p>
            <a:r>
              <a:rPr dirty="0"/>
              <a:t>Conclusion</a:t>
            </a:r>
          </a:p>
          <a:p>
            <a:r>
              <a:rPr dirty="0"/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lgerian"/>
                <a:ea typeface="Algerian"/>
                <a:cs typeface="Algerian"/>
                <a:sym typeface="Algerian"/>
              </a:defRPr>
            </a:lvl1pPr>
          </a:lstStyle>
          <a:p>
            <a:r>
              <a:rPr dirty="0"/>
              <a:t>Introduction:</a:t>
            </a:r>
          </a:p>
        </p:txBody>
      </p:sp>
      <p:sp>
        <p:nvSpPr>
          <p:cNvPr id="247" name="Content Placeholder 2"/>
          <p:cNvSpPr txBox="1">
            <a:spLocks noGrp="1"/>
          </p:cNvSpPr>
          <p:nvPr>
            <p:ph idx="1"/>
          </p:nvPr>
        </p:nvSpPr>
        <p:spPr>
          <a:xfrm>
            <a:off x="702147" y="2011329"/>
            <a:ext cx="7718243" cy="4342224"/>
          </a:xfrm>
          <a:prstGeom prst="rect">
            <a:avLst/>
          </a:prstGeom>
        </p:spPr>
        <p:txBody>
          <a:bodyPr/>
          <a:lstStyle/>
          <a:p>
            <a:pPr algn="just">
              <a:lnSpc>
                <a:spcPct val="110000"/>
              </a:lnSpc>
              <a:defRPr sz="2000"/>
            </a:pPr>
            <a:r>
              <a:rPr dirty="0"/>
              <a:t>AN AUTOMOTIVE ECU COMMUNICATION SYSTEM USES THE CONTROLLER AREA NETWORK (CAN) PROTOCOL.</a:t>
            </a:r>
            <a:endParaRPr lang="en-US" dirty="0"/>
          </a:p>
          <a:p>
            <a:pPr algn="just">
              <a:lnSpc>
                <a:spcPct val="110000"/>
              </a:lnSpc>
              <a:defRPr sz="2000"/>
            </a:pPr>
            <a:endParaRPr dirty="0"/>
          </a:p>
          <a:p>
            <a:pPr algn="just">
              <a:lnSpc>
                <a:spcPct val="110000"/>
              </a:lnSpc>
              <a:defRPr sz="2000"/>
            </a:pPr>
            <a:r>
              <a:rPr dirty="0"/>
              <a:t>IT IS A MESSAGE-BASED &amp; SERIAL COMMUNICATION SYSTEM.</a:t>
            </a:r>
          </a:p>
          <a:p>
            <a:pPr algn="just">
              <a:lnSpc>
                <a:spcPct val="110000"/>
              </a:lnSpc>
              <a:defRPr sz="2000"/>
            </a:pPr>
            <a:endParaRPr dirty="0"/>
          </a:p>
          <a:p>
            <a:pPr algn="just">
              <a:lnSpc>
                <a:spcPct val="110000"/>
              </a:lnSpc>
              <a:defRPr sz="2000"/>
            </a:pPr>
            <a:r>
              <a:rPr dirty="0"/>
              <a:t>IT ALLOWS MULTIPLE ECUS TO EXCHANGE DATA RELIABLY OVER A TWO-WIRE BUS WITHOUT A HOST COMPUTER.</a:t>
            </a:r>
          </a:p>
          <a:p>
            <a:pPr algn="just">
              <a:lnSpc>
                <a:spcPct val="110000"/>
              </a:lnSpc>
              <a:defRPr sz="2000"/>
            </a:pPr>
            <a:endParaRPr dirty="0"/>
          </a:p>
          <a:p>
            <a:pPr algn="just">
              <a:lnSpc>
                <a:spcPct val="110000"/>
              </a:lnSpc>
              <a:defRPr sz="2000"/>
            </a:pPr>
            <a:r>
              <a:rPr dirty="0"/>
              <a:t>CAN IS A BROADCAST AND ASYNCHRONOUS PROTOCOL.</a:t>
            </a:r>
          </a:p>
        </p:txBody>
      </p:sp>
      <p:pic>
        <p:nvPicPr>
          <p:cNvPr id="248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541" y="2396503"/>
            <a:ext cx="3961666" cy="35718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lgerian"/>
                <a:ea typeface="Algerian"/>
                <a:cs typeface="Algerian"/>
                <a:sym typeface="Algerian"/>
              </a:defRPr>
            </a:lvl1pPr>
          </a:lstStyle>
          <a:p>
            <a:r>
              <a:t>PROBLEM STATEMENT &amp; OBJECTIVE</a:t>
            </a:r>
          </a:p>
        </p:txBody>
      </p:sp>
      <p:sp>
        <p:nvSpPr>
          <p:cNvPr id="251" name="Content Placeholder 2"/>
          <p:cNvSpPr txBox="1">
            <a:spLocks noGrp="1"/>
          </p:cNvSpPr>
          <p:nvPr>
            <p:ph idx="1"/>
          </p:nvPr>
        </p:nvSpPr>
        <p:spPr>
          <a:xfrm>
            <a:off x="953697" y="1863177"/>
            <a:ext cx="9613863" cy="4302464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96000"/>
              </a:lnSpc>
              <a:buSzTx/>
              <a:buNone/>
              <a:defRPr sz="1800" b="1" u="sng"/>
            </a:pPr>
            <a:r>
              <a:rPr dirty="0"/>
              <a:t>PROBLEM STATEMENT: </a:t>
            </a:r>
            <a:endParaRPr sz="2600" dirty="0"/>
          </a:p>
          <a:p>
            <a:pPr>
              <a:lnSpc>
                <a:spcPct val="96000"/>
              </a:lnSpc>
              <a:defRPr sz="1600"/>
            </a:pPr>
            <a:r>
              <a:rPr dirty="0"/>
              <a:t>INCREASING NUMBER OF ECUS IN MODERN VEHICLES. </a:t>
            </a:r>
          </a:p>
          <a:p>
            <a:pPr>
              <a:lnSpc>
                <a:spcPct val="96000"/>
              </a:lnSpc>
              <a:defRPr sz="1600"/>
            </a:pPr>
            <a:r>
              <a:rPr dirty="0"/>
              <a:t>POINT-TO-POINT WIRING IS COMPLEX, COSTLY, AND INEFFICIENT. </a:t>
            </a:r>
          </a:p>
          <a:p>
            <a:pPr>
              <a:lnSpc>
                <a:spcPct val="96000"/>
              </a:lnSpc>
              <a:defRPr sz="1600"/>
            </a:pPr>
            <a:r>
              <a:rPr dirty="0"/>
              <a:t>REAL-TIME COMMUNICATION BETWEEN ECU’S IS CHALLENGING. </a:t>
            </a:r>
          </a:p>
          <a:p>
            <a:pPr>
              <a:lnSpc>
                <a:spcPct val="96000"/>
              </a:lnSpc>
              <a:defRPr sz="1600"/>
            </a:pPr>
            <a:r>
              <a:rPr dirty="0"/>
              <a:t>NEED FOR A RELIABLE AND STANDARD COMMUNICATION SYSTEM.</a:t>
            </a:r>
          </a:p>
          <a:p>
            <a:pPr>
              <a:lnSpc>
                <a:spcPct val="96000"/>
              </a:lnSpc>
              <a:defRPr sz="1600"/>
            </a:pPr>
            <a:endParaRPr dirty="0"/>
          </a:p>
          <a:p>
            <a:pPr marL="0" indent="0">
              <a:lnSpc>
                <a:spcPct val="96000"/>
              </a:lnSpc>
              <a:buSzTx/>
              <a:buNone/>
              <a:defRPr sz="1800" b="1" u="sng"/>
            </a:pPr>
            <a:r>
              <a:rPr dirty="0"/>
              <a:t>OBJECTIVE</a:t>
            </a:r>
            <a:r>
              <a:rPr u="none" dirty="0"/>
              <a:t>: </a:t>
            </a:r>
            <a:endParaRPr sz="2600" dirty="0"/>
          </a:p>
          <a:p>
            <a:pPr>
              <a:lnSpc>
                <a:spcPct val="96000"/>
              </a:lnSpc>
              <a:defRPr sz="1600"/>
            </a:pPr>
            <a:r>
              <a:rPr dirty="0"/>
              <a:t>TO UNDERSTAND AND IMPLEMENT THE CAN PROTOCOL FOR ECU COMMUNICATION. </a:t>
            </a:r>
          </a:p>
          <a:p>
            <a:pPr>
              <a:lnSpc>
                <a:spcPct val="96000"/>
              </a:lnSpc>
              <a:defRPr sz="1600"/>
            </a:pPr>
            <a:r>
              <a:rPr dirty="0"/>
              <a:t>TO SIMULATE REAL-TIME DATA EXCHANGE BETWEEN MULTIPLE ECUS. </a:t>
            </a:r>
          </a:p>
          <a:p>
            <a:pPr>
              <a:lnSpc>
                <a:spcPct val="96000"/>
              </a:lnSpc>
              <a:defRPr sz="1600"/>
            </a:pPr>
            <a:r>
              <a:rPr dirty="0"/>
              <a:t>TO REDUCE WIRING COMPLEXITY USING A TWO-WIRE CAN BUS. </a:t>
            </a:r>
          </a:p>
          <a:p>
            <a:pPr>
              <a:lnSpc>
                <a:spcPct val="96000"/>
              </a:lnSpc>
              <a:defRPr sz="1600"/>
            </a:pPr>
            <a:r>
              <a:rPr lang="en-US" dirty="0"/>
              <a:t>TO MAKE INTERRUPT HANDLER BASED COMMUNICATION.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lgerian"/>
                <a:ea typeface="Algerian"/>
                <a:cs typeface="Algerian"/>
                <a:sym typeface="Algerian"/>
              </a:defRPr>
            </a:lvl1pPr>
          </a:lstStyle>
          <a:p>
            <a:r>
              <a:t>LITERATURE SURVEY</a:t>
            </a:r>
          </a:p>
        </p:txBody>
      </p:sp>
      <p:sp>
        <p:nvSpPr>
          <p:cNvPr id="254" name="Content Placeholder 2"/>
          <p:cNvSpPr txBox="1">
            <a:spLocks noGrp="1"/>
          </p:cNvSpPr>
          <p:nvPr>
            <p:ph idx="1"/>
          </p:nvPr>
        </p:nvSpPr>
        <p:spPr>
          <a:xfrm>
            <a:off x="792316" y="1612443"/>
            <a:ext cx="11037914" cy="4391919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96000"/>
              </a:lnSpc>
              <a:buSzTx/>
              <a:buNone/>
              <a:defRPr sz="1800"/>
            </a:pPr>
            <a:endParaRPr dirty="0"/>
          </a:p>
          <a:p>
            <a:pPr>
              <a:lnSpc>
                <a:spcPct val="96000"/>
              </a:lnSpc>
              <a:defRPr sz="2100"/>
            </a:pPr>
            <a:r>
              <a:rPr dirty="0"/>
              <a:t>CAN protocol specifications are published in the </a:t>
            </a:r>
            <a:r>
              <a:rPr b="1" dirty="0"/>
              <a:t>Bosch CAN 2.0 documentation </a:t>
            </a:r>
            <a:r>
              <a:rPr dirty="0"/>
              <a:t>and later standardized as </a:t>
            </a:r>
            <a:r>
              <a:rPr b="1" dirty="0"/>
              <a:t>ISO 11898</a:t>
            </a:r>
            <a:r>
              <a:rPr dirty="0"/>
              <a:t>. </a:t>
            </a:r>
            <a:endParaRPr sz="2200" dirty="0"/>
          </a:p>
          <a:p>
            <a:pPr>
              <a:lnSpc>
                <a:spcPct val="96000"/>
              </a:lnSpc>
              <a:defRPr sz="2100"/>
            </a:pPr>
            <a:r>
              <a:rPr dirty="0"/>
              <a:t>For this project, we referred to: </a:t>
            </a:r>
            <a:endParaRPr sz="2200" dirty="0"/>
          </a:p>
          <a:p>
            <a:pPr>
              <a:lnSpc>
                <a:spcPct val="96000"/>
              </a:lnSpc>
              <a:defRPr sz="2100" b="1"/>
            </a:pPr>
            <a:r>
              <a:rPr dirty="0"/>
              <a:t>Bosch CAN Protocol Documentation </a:t>
            </a:r>
            <a:r>
              <a:rPr b="0" dirty="0"/>
              <a:t>– For understanding CAN message framing and arbitration. </a:t>
            </a:r>
            <a:endParaRPr sz="2200" dirty="0"/>
          </a:p>
          <a:p>
            <a:pPr>
              <a:lnSpc>
                <a:spcPct val="96000"/>
              </a:lnSpc>
              <a:defRPr sz="2100" b="1"/>
            </a:pPr>
            <a:r>
              <a:rPr dirty="0"/>
              <a:t>NXP LPC2129 Datasheet </a:t>
            </a:r>
            <a:r>
              <a:rPr b="0" dirty="0"/>
              <a:t>– To configure CAN controller registers. </a:t>
            </a:r>
            <a:endParaRPr sz="2200" dirty="0"/>
          </a:p>
          <a:p>
            <a:pPr>
              <a:lnSpc>
                <a:spcPct val="96000"/>
              </a:lnSpc>
              <a:defRPr sz="2100" b="1"/>
            </a:pPr>
            <a:r>
              <a:rPr dirty="0"/>
              <a:t>MCP25</a:t>
            </a:r>
            <a:r>
              <a:rPr lang="en-IN" dirty="0"/>
              <a:t>51</a:t>
            </a:r>
            <a:r>
              <a:rPr dirty="0"/>
              <a:t> Transceiver Datasheet </a:t>
            </a:r>
            <a:r>
              <a:rPr b="0" dirty="0"/>
              <a:t>– For interfacing the LPC2129 with the CAN bus. </a:t>
            </a:r>
            <a:endParaRPr sz="2200" dirty="0"/>
          </a:p>
          <a:p>
            <a:pPr>
              <a:lnSpc>
                <a:spcPct val="96000"/>
              </a:lnSpc>
              <a:defRPr sz="2100" b="1"/>
            </a:pPr>
            <a:r>
              <a:rPr dirty="0"/>
              <a:t>Keil </a:t>
            </a:r>
            <a:r>
              <a:rPr dirty="0" err="1"/>
              <a:t>uVision</a:t>
            </a:r>
            <a:r>
              <a:rPr dirty="0"/>
              <a:t> IDE Documentation </a:t>
            </a:r>
            <a:r>
              <a:rPr b="0" dirty="0"/>
              <a:t>– For compiling and debugging the project code. </a:t>
            </a:r>
            <a:endParaRPr sz="2200" dirty="0"/>
          </a:p>
          <a:p>
            <a:pPr>
              <a:lnSpc>
                <a:spcPct val="96000"/>
              </a:lnSpc>
              <a:defRPr sz="2100" b="1"/>
            </a:pPr>
            <a:r>
              <a:rPr dirty="0"/>
              <a:t>Flash Magic User Manual </a:t>
            </a:r>
            <a:r>
              <a:rPr b="0" dirty="0"/>
              <a:t>– For programming the LPC2129 microcontroller using UART</a:t>
            </a:r>
            <a:r>
              <a:rPr sz="1600" b="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lgerian"/>
                <a:ea typeface="Algerian"/>
                <a:cs typeface="Algerian"/>
                <a:sym typeface="Algerian"/>
              </a:defRPr>
            </a:lvl1pPr>
          </a:lstStyle>
          <a:p>
            <a:r>
              <a:t>PROPOSED SYSTEM</a:t>
            </a:r>
          </a:p>
        </p:txBody>
      </p:sp>
      <p:sp>
        <p:nvSpPr>
          <p:cNvPr id="257" name="Content Placeholder 2"/>
          <p:cNvSpPr txBox="1">
            <a:spLocks noGrp="1"/>
          </p:cNvSpPr>
          <p:nvPr>
            <p:ph idx="1"/>
          </p:nvPr>
        </p:nvSpPr>
        <p:spPr>
          <a:xfrm>
            <a:off x="793443" y="1959801"/>
            <a:ext cx="6039456" cy="3599317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SzTx/>
              <a:buNone/>
              <a:defRPr sz="2800" b="1" u="sng"/>
            </a:pPr>
            <a:r>
              <a:rPr dirty="0"/>
              <a:t>SYSTEM DESCRIPTION</a:t>
            </a:r>
            <a:r>
              <a:rPr sz="2400" u="none" dirty="0"/>
              <a:t>:–</a:t>
            </a:r>
          </a:p>
          <a:p>
            <a:pPr>
              <a:lnSpc>
                <a:spcPct val="150000"/>
              </a:lnSpc>
            </a:pPr>
            <a:r>
              <a:rPr dirty="0"/>
              <a:t>LPC21XX ECU WITH CAN1 PERIPHERAL.</a:t>
            </a:r>
          </a:p>
          <a:p>
            <a:pPr>
              <a:lnSpc>
                <a:spcPct val="100000"/>
              </a:lnSpc>
            </a:pPr>
            <a:r>
              <a:rPr dirty="0"/>
              <a:t>ACCEPTANCE FILTER CONFIGURED FOR SPECIFIC IDS. </a:t>
            </a:r>
          </a:p>
          <a:p>
            <a:pPr>
              <a:lnSpc>
                <a:spcPct val="100000"/>
              </a:lnSpc>
            </a:pPr>
            <a:r>
              <a:rPr dirty="0"/>
              <a:t>INTERRUPT-DRIVEN MESSAGE HANDLING. </a:t>
            </a:r>
          </a:p>
          <a:p>
            <a:pPr>
              <a:lnSpc>
                <a:spcPct val="100000"/>
              </a:lnSpc>
            </a:pPr>
            <a:r>
              <a:rPr dirty="0"/>
              <a:t>LEDS USED FOR OUTPUT INDICATOR.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USED 16x2 LCD  AND UART SERIAL TERMINAL TO DISPLAY SPEED AND HEADLIGHT AND LEFT AND RIGHT INDICATOR.</a:t>
            </a:r>
            <a:endParaRPr dirty="0"/>
          </a:p>
        </p:txBody>
      </p:sp>
      <p:pic>
        <p:nvPicPr>
          <p:cNvPr id="258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899" y="1959801"/>
            <a:ext cx="5145158" cy="3971926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84DF79-00DA-957D-F152-5093B827A3F6}"/>
              </a:ext>
            </a:extLst>
          </p:cNvPr>
          <p:cNvSpPr txBox="1"/>
          <p:nvPr/>
        </p:nvSpPr>
        <p:spPr>
          <a:xfrm>
            <a:off x="9549847" y="1375794"/>
            <a:ext cx="578841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Trebuchet M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61C602-ABC7-A348-5A40-AA942F001DE6}"/>
              </a:ext>
            </a:extLst>
          </p:cNvPr>
          <p:cNvSpPr/>
          <p:nvPr/>
        </p:nvSpPr>
        <p:spPr>
          <a:xfrm>
            <a:off x="10567447" y="2097088"/>
            <a:ext cx="980388" cy="2146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Node B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F3F05B-E34B-D947-BC49-620721BB8849}"/>
              </a:ext>
            </a:extLst>
          </p:cNvPr>
          <p:cNvSpPr/>
          <p:nvPr/>
        </p:nvSpPr>
        <p:spPr>
          <a:xfrm>
            <a:off x="7469573" y="2097088"/>
            <a:ext cx="980388" cy="2146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Node A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lgerian"/>
                <a:ea typeface="Algerian"/>
                <a:cs typeface="Algerian"/>
                <a:sym typeface="Algerian"/>
              </a:defRPr>
            </a:lvl1pPr>
          </a:lstStyle>
          <a:p>
            <a:r>
              <a:t>BLOCK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D48ACA-9E21-ED1E-C7D2-74D53D8DF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472" y="2045081"/>
            <a:ext cx="9715055" cy="471498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t>HARDWARE / SOFTWARE USED</a:t>
            </a:r>
          </a:p>
        </p:txBody>
      </p:sp>
      <p:sp>
        <p:nvSpPr>
          <p:cNvPr id="264" name="Content Placeholder 2"/>
          <p:cNvSpPr txBox="1">
            <a:spLocks noGrp="1"/>
          </p:cNvSpPr>
          <p:nvPr>
            <p:ph idx="1"/>
          </p:nvPr>
        </p:nvSpPr>
        <p:spPr>
          <a:xfrm>
            <a:off x="930524" y="2256771"/>
            <a:ext cx="5163888" cy="3599317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99000"/>
              </a:lnSpc>
              <a:buSzTx/>
              <a:buNone/>
              <a:defRPr sz="2500" b="1" u="sng"/>
            </a:pPr>
            <a:r>
              <a:rPr dirty="0"/>
              <a:t>HARDWARE:</a:t>
            </a:r>
            <a:r>
              <a:rPr sz="2200" b="0" u="none" dirty="0"/>
              <a:t>-</a:t>
            </a:r>
            <a:endParaRPr sz="2200" dirty="0"/>
          </a:p>
          <a:p>
            <a:pPr>
              <a:lnSpc>
                <a:spcPct val="99000"/>
              </a:lnSpc>
              <a:defRPr sz="2200"/>
            </a:pPr>
            <a:r>
              <a:rPr dirty="0"/>
              <a:t>LPC2129 Microcontroller</a:t>
            </a:r>
            <a:r>
              <a:rPr lang="en-IN" dirty="0"/>
              <a:t>(2 Boards)</a:t>
            </a:r>
            <a:r>
              <a:rPr dirty="0"/>
              <a:t>. </a:t>
            </a:r>
          </a:p>
          <a:p>
            <a:pPr>
              <a:lnSpc>
                <a:spcPct val="99000"/>
              </a:lnSpc>
              <a:defRPr sz="2200"/>
            </a:pPr>
            <a:r>
              <a:rPr dirty="0"/>
              <a:t>MCP25</a:t>
            </a:r>
            <a:r>
              <a:rPr lang="en-US" dirty="0"/>
              <a:t>51</a:t>
            </a:r>
            <a:r>
              <a:rPr dirty="0"/>
              <a:t> CAN Transceiver. </a:t>
            </a:r>
          </a:p>
          <a:p>
            <a:pPr>
              <a:lnSpc>
                <a:spcPct val="99000"/>
              </a:lnSpc>
              <a:defRPr sz="2200"/>
            </a:pPr>
            <a:r>
              <a:rPr lang="en-IN" dirty="0"/>
              <a:t>3 </a:t>
            </a:r>
            <a:r>
              <a:rPr dirty="0"/>
              <a:t>LEDs &amp; </a:t>
            </a:r>
            <a:r>
              <a:rPr lang="en-IN" dirty="0"/>
              <a:t>3 </a:t>
            </a:r>
            <a:r>
              <a:rPr dirty="0"/>
              <a:t>Switches.</a:t>
            </a:r>
            <a:endParaRPr lang="en-IN" dirty="0"/>
          </a:p>
          <a:p>
            <a:pPr>
              <a:lnSpc>
                <a:spcPct val="99000"/>
              </a:lnSpc>
              <a:defRPr sz="2200"/>
            </a:pPr>
            <a:r>
              <a:rPr lang="en-IN" dirty="0"/>
              <a:t>1 Buzzer</a:t>
            </a:r>
          </a:p>
          <a:p>
            <a:pPr>
              <a:lnSpc>
                <a:spcPct val="99000"/>
              </a:lnSpc>
              <a:defRPr sz="2200"/>
            </a:pPr>
            <a:r>
              <a:rPr lang="en-IN" dirty="0"/>
              <a:t>16x2 Alphanumeric LCD</a:t>
            </a:r>
            <a:r>
              <a:rPr dirty="0"/>
              <a:t> </a:t>
            </a:r>
            <a:endParaRPr lang="en-IN" dirty="0"/>
          </a:p>
          <a:p>
            <a:pPr>
              <a:lnSpc>
                <a:spcPct val="99000"/>
              </a:lnSpc>
              <a:defRPr sz="2200"/>
            </a:pPr>
            <a:r>
              <a:rPr lang="en-IN" dirty="0"/>
              <a:t>Potentiometer(ADC).</a:t>
            </a:r>
            <a:endParaRPr dirty="0"/>
          </a:p>
          <a:p>
            <a:pPr>
              <a:lnSpc>
                <a:spcPct val="99000"/>
              </a:lnSpc>
              <a:defRPr sz="2200"/>
            </a:pPr>
            <a:r>
              <a:rPr dirty="0"/>
              <a:t>Power Supply. </a:t>
            </a:r>
          </a:p>
          <a:p>
            <a:pPr>
              <a:lnSpc>
                <a:spcPct val="99000"/>
              </a:lnSpc>
              <a:defRPr sz="2200"/>
            </a:pPr>
            <a:r>
              <a:rPr lang="en-IN" dirty="0"/>
              <a:t>Connecting Wires</a:t>
            </a:r>
            <a:r>
              <a:rPr dirty="0"/>
              <a:t>.</a:t>
            </a:r>
          </a:p>
        </p:txBody>
      </p:sp>
      <p:sp>
        <p:nvSpPr>
          <p:cNvPr id="265" name="Content Placeholder 2"/>
          <p:cNvSpPr txBox="1"/>
          <p:nvPr/>
        </p:nvSpPr>
        <p:spPr>
          <a:xfrm>
            <a:off x="6186406" y="2256771"/>
            <a:ext cx="5668210" cy="35993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defTabSz="914400">
              <a:lnSpc>
                <a:spcPct val="110000"/>
              </a:lnSpc>
              <a:spcBef>
                <a:spcPts val="1000"/>
              </a:spcBef>
              <a:defRPr sz="2500" b="1" u="sng">
                <a:solidFill>
                  <a:srgbClr val="FFFFFF"/>
                </a:solidFill>
              </a:defRPr>
            </a:pPr>
            <a:r>
              <a:rPr dirty="0"/>
              <a:t>SOFTWARE:</a:t>
            </a:r>
            <a:r>
              <a:rPr sz="2200" b="0" u="none" dirty="0"/>
              <a:t>-</a:t>
            </a:r>
            <a:endParaRPr sz="2200" dirty="0"/>
          </a:p>
          <a:p>
            <a:pPr marL="228600" indent="-228600" defTabSz="914400">
              <a:lnSpc>
                <a:spcPct val="110000"/>
              </a:lnSpc>
              <a:spcBef>
                <a:spcPts val="1000"/>
              </a:spcBef>
              <a:buSzPct val="100000"/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rPr dirty="0"/>
              <a:t>Keil </a:t>
            </a:r>
            <a:r>
              <a:rPr dirty="0" err="1"/>
              <a:t>uVision</a:t>
            </a:r>
            <a:r>
              <a:rPr dirty="0"/>
              <a:t> IDE: Our coding environment. </a:t>
            </a:r>
          </a:p>
          <a:p>
            <a:pPr marL="228600" indent="-228600" defTabSz="914400">
              <a:lnSpc>
                <a:spcPct val="110000"/>
              </a:lnSpc>
              <a:spcBef>
                <a:spcPts val="1000"/>
              </a:spcBef>
              <a:buSzPct val="100000"/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rPr dirty="0"/>
              <a:t>Serial Terminal / Debug Tools: For testing and Troubleshooting. </a:t>
            </a:r>
          </a:p>
          <a:p>
            <a:pPr marL="228600" indent="-228600" defTabSz="914400">
              <a:lnSpc>
                <a:spcPct val="110000"/>
              </a:lnSpc>
              <a:spcBef>
                <a:spcPts val="1000"/>
              </a:spcBef>
              <a:buSzPct val="100000"/>
              <a:buFont typeface="Arial"/>
              <a:buChar char="•"/>
              <a:defRPr sz="2200">
                <a:solidFill>
                  <a:srgbClr val="FFFFFF"/>
                </a:solidFill>
              </a:defRPr>
            </a:pPr>
            <a:r>
              <a:rPr dirty="0"/>
              <a:t>Flash Magic: For flashing/Dumping a hex file into Microcontroller using UART0.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lgerian"/>
                <a:ea typeface="Algerian"/>
                <a:cs typeface="Algerian"/>
                <a:sym typeface="Algerian"/>
              </a:defRPr>
            </a:lvl1pPr>
          </a:lstStyle>
          <a:p>
            <a:r>
              <a:t>IMPLEMENTATION :</a:t>
            </a:r>
          </a:p>
        </p:txBody>
      </p:sp>
      <p:pic>
        <p:nvPicPr>
          <p:cNvPr id="268" name="Content Placeholder 4" descr="Content Placeholder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64" y="2053763"/>
            <a:ext cx="3661506" cy="4691025"/>
          </a:xfrm>
          <a:prstGeom prst="rect">
            <a:avLst/>
          </a:prstGeom>
          <a:ln w="12700">
            <a:miter lim="400000"/>
          </a:ln>
        </p:spPr>
      </p:pic>
      <p:pic>
        <p:nvPicPr>
          <p:cNvPr id="269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0308" y="2021863"/>
            <a:ext cx="3294503" cy="2470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70" name="Picture 8" descr="Picture 8"/>
          <p:cNvPicPr>
            <a:picLocks noChangeAspect="1"/>
          </p:cNvPicPr>
          <p:nvPr/>
        </p:nvPicPr>
        <p:blipFill>
          <a:blip r:embed="rId4"/>
          <a:srcRect l="23914" t="33024" r="26986" b="31626"/>
          <a:stretch>
            <a:fillRect/>
          </a:stretch>
        </p:blipFill>
        <p:spPr>
          <a:xfrm>
            <a:off x="7606187" y="4396517"/>
            <a:ext cx="4489670" cy="24242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itle 1"/>
          <p:cNvSpPr txBox="1">
            <a:spLocks noGrp="1"/>
          </p:cNvSpPr>
          <p:nvPr>
            <p:ph type="title"/>
          </p:nvPr>
        </p:nvSpPr>
        <p:spPr>
          <a:xfrm>
            <a:off x="1141413" y="627945"/>
            <a:ext cx="9905998" cy="1478570"/>
          </a:xfrm>
          <a:prstGeom prst="rect">
            <a:avLst/>
          </a:prstGeom>
        </p:spPr>
        <p:txBody>
          <a:bodyPr/>
          <a:lstStyle>
            <a:lvl1pPr>
              <a:defRPr>
                <a:latin typeface="Algerian"/>
                <a:ea typeface="Algerian"/>
                <a:cs typeface="Algerian"/>
                <a:sym typeface="Algerian"/>
              </a:defRPr>
            </a:lvl1pPr>
          </a:lstStyle>
          <a:p>
            <a:r>
              <a:rPr dirty="0"/>
              <a:t>RESULTS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8E1F71D-AFA7-F20D-14CF-F4D5ABB6042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54357" y="2097088"/>
            <a:ext cx="5402577" cy="462745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99000"/>
              </a:lnSpc>
              <a:defRPr sz="2200"/>
            </a:pPr>
            <a:r>
              <a:rPr lang="en-IN" dirty="0"/>
              <a:t>SUCCESFULLY CAN MESSAGES TRANSMISSION</a:t>
            </a:r>
            <a:r>
              <a:rPr dirty="0"/>
              <a:t>. </a:t>
            </a:r>
          </a:p>
          <a:p>
            <a:pPr>
              <a:lnSpc>
                <a:spcPct val="99000"/>
              </a:lnSpc>
              <a:defRPr sz="2200"/>
            </a:pPr>
            <a:r>
              <a:rPr lang="en-IN" dirty="0"/>
              <a:t>HEADLIGHT ON/OFF WORKING.</a:t>
            </a:r>
          </a:p>
          <a:p>
            <a:pPr>
              <a:lnSpc>
                <a:spcPct val="99000"/>
              </a:lnSpc>
              <a:defRPr sz="2200"/>
            </a:pPr>
            <a:r>
              <a:rPr lang="en-IN" dirty="0"/>
              <a:t>RIGHT/LEFT INDICATORS BLINKING AS PER COMMANDS.</a:t>
            </a:r>
          </a:p>
          <a:p>
            <a:pPr>
              <a:lnSpc>
                <a:spcPct val="99000"/>
              </a:lnSpc>
              <a:defRPr sz="2200"/>
            </a:pPr>
            <a:r>
              <a:rPr lang="en-IN" dirty="0"/>
              <a:t>Speed is showing as per the potentiometer.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90342D-0F98-F225-6B3F-26B788861C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17"/>
          <a:stretch>
            <a:fillRect/>
          </a:stretch>
        </p:blipFill>
        <p:spPr>
          <a:xfrm>
            <a:off x="5656934" y="133459"/>
            <a:ext cx="2916026" cy="17718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C99158A-5E78-98B6-3210-8516A7C807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561"/>
          <a:stretch>
            <a:fillRect/>
          </a:stretch>
        </p:blipFill>
        <p:spPr>
          <a:xfrm>
            <a:off x="8644305" y="2009016"/>
            <a:ext cx="2916025" cy="18904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3AAE4A6-DAF9-89C9-36DC-E895C9204E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74"/>
          <a:stretch>
            <a:fillRect/>
          </a:stretch>
        </p:blipFill>
        <p:spPr>
          <a:xfrm>
            <a:off x="5656934" y="4052559"/>
            <a:ext cx="2876538" cy="20069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lgerian"/>
                <a:ea typeface="Algerian"/>
                <a:cs typeface="Algerian"/>
                <a:sym typeface="Algerian"/>
              </a:defRPr>
            </a:lvl1pPr>
          </a:lstStyle>
          <a:p>
            <a:r>
              <a:rPr dirty="0"/>
              <a:t>CONCLUSION </a:t>
            </a:r>
          </a:p>
        </p:txBody>
      </p:sp>
      <p:sp>
        <p:nvSpPr>
          <p:cNvPr id="277" name="Content Placeholder 2"/>
          <p:cNvSpPr txBox="1">
            <a:spLocks noGrp="1"/>
          </p:cNvSpPr>
          <p:nvPr>
            <p:ph idx="1"/>
          </p:nvPr>
        </p:nvSpPr>
        <p:spPr>
          <a:xfrm>
            <a:off x="998309" y="1830566"/>
            <a:ext cx="11408897" cy="462745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9000"/>
              </a:lnSpc>
              <a:defRPr sz="2200"/>
            </a:pPr>
            <a:r>
              <a:rPr dirty="0"/>
              <a:t>IMPLEMENTED CAN COMMUNICATION WITH INTERRUPTS. </a:t>
            </a:r>
          </a:p>
          <a:p>
            <a:pPr>
              <a:lnSpc>
                <a:spcPct val="99000"/>
              </a:lnSpc>
              <a:defRPr sz="2200"/>
            </a:pPr>
            <a:r>
              <a:rPr dirty="0"/>
              <a:t>REDUCES WIRING COMPLEXITY IN AUTOMOTIVE SYSTEMS. </a:t>
            </a:r>
          </a:p>
          <a:p>
            <a:pPr>
              <a:lnSpc>
                <a:spcPct val="99000"/>
              </a:lnSpc>
              <a:defRPr sz="2200"/>
            </a:pPr>
            <a:r>
              <a:rPr dirty="0"/>
              <a:t>PROVIDES HANDS-ON UNDERSTANDING OF EMBEDDED SYSTEMS AND ECU COMMUNICATION. </a:t>
            </a:r>
          </a:p>
          <a:p>
            <a:pPr>
              <a:lnSpc>
                <a:spcPct val="99000"/>
              </a:lnSpc>
              <a:defRPr sz="2200"/>
            </a:pPr>
            <a:r>
              <a:rPr dirty="0"/>
              <a:t>CAN PROTOCOL ENABLES REAL-TIME, RELIABLE, AND EFFICIENT COMMUNICATION.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lgerian"/>
                <a:ea typeface="Algerian"/>
                <a:cs typeface="Algerian"/>
                <a:sym typeface="Algerian"/>
              </a:defRPr>
            </a:lvl1pPr>
          </a:lstStyle>
          <a:p>
            <a:r>
              <a:t>REFERENCES</a:t>
            </a:r>
          </a:p>
        </p:txBody>
      </p:sp>
      <p:sp>
        <p:nvSpPr>
          <p:cNvPr id="280" name="Content Placeholder 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dirty="0"/>
              <a:t>USER MANUAL OF LPC2129 </a:t>
            </a:r>
          </a:p>
          <a:p>
            <a:pPr>
              <a:lnSpc>
                <a:spcPct val="100000"/>
              </a:lnSpc>
            </a:pPr>
            <a:r>
              <a:rPr dirty="0"/>
              <a:t>USER MANNUAL OF MCP255</a:t>
            </a:r>
            <a:r>
              <a:rPr lang="en-US" dirty="0"/>
              <a:t>1</a:t>
            </a:r>
            <a:r>
              <a:rPr dirty="0"/>
              <a:t> </a:t>
            </a:r>
          </a:p>
          <a:p>
            <a:pPr>
              <a:lnSpc>
                <a:spcPct val="100000"/>
              </a:lnSpc>
            </a:pPr>
            <a:r>
              <a:rPr dirty="0"/>
              <a:t>WEBSITES (</a:t>
            </a:r>
            <a:r>
              <a:rPr u="sng" dirty="0">
                <a:solidFill>
                  <a:srgbClr val="FFAE3E"/>
                </a:solidFill>
                <a:uFill>
                  <a:solidFill>
                    <a:srgbClr val="FFAE3E"/>
                  </a:solidFill>
                </a:uFill>
                <a:hlinkClick r:id="rId2"/>
              </a:rPr>
              <a:t>https://www.vectror.com</a:t>
            </a:r>
            <a:r>
              <a:rPr dirty="0"/>
              <a:t>)</a:t>
            </a:r>
          </a:p>
          <a:p>
            <a:pPr>
              <a:lnSpc>
                <a:spcPct val="100000"/>
              </a:lnSpc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Picture 30" descr="Picture 30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3" name="Picture 31" descr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825" y="1971233"/>
            <a:ext cx="1602998" cy="144271"/>
          </a:xfrm>
          <a:prstGeom prst="rect">
            <a:avLst/>
          </a:prstGeom>
          <a:ln w="12700">
            <a:miter lim="400000"/>
          </a:ln>
        </p:spPr>
      </p:pic>
      <p:sp>
        <p:nvSpPr>
          <p:cNvPr id="284" name="Rectangle 32"/>
          <p:cNvSpPr/>
          <p:nvPr/>
        </p:nvSpPr>
        <p:spPr>
          <a:xfrm>
            <a:off x="10585826" y="609600"/>
            <a:ext cx="1602998" cy="136819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85" name="Picture 4" descr="Picture 4"/>
          <p:cNvPicPr>
            <a:picLocks noChangeAspect="1"/>
          </p:cNvPicPr>
          <p:nvPr/>
        </p:nvPicPr>
        <p:blipFill>
          <a:blip r:embed="rId4"/>
          <a:srcRect t="2433" b="10642"/>
          <a:stretch>
            <a:fillRect/>
          </a:stretch>
        </p:blipFill>
        <p:spPr>
          <a:xfrm>
            <a:off x="215834" y="0"/>
            <a:ext cx="11735170" cy="6809056"/>
          </a:xfrm>
          <a:prstGeom prst="rect">
            <a:avLst/>
          </a:prstGeom>
          <a:ln w="12700">
            <a:miter lim="400000"/>
          </a:ln>
          <a:effectLst>
            <a:outerShdw blurRad="76200" dist="63500" dir="5040000" rotWithShape="0">
              <a:srgbClr val="000000">
                <a:alpha val="41000"/>
              </a:srgbClr>
            </a:outerShdw>
          </a:effectLst>
        </p:spPr>
      </p:pic>
      <p:pic>
        <p:nvPicPr>
          <p:cNvPr id="286" name="Picture 33" descr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825" y="1971233"/>
            <a:ext cx="1602998" cy="144271"/>
          </a:xfrm>
          <a:prstGeom prst="rect">
            <a:avLst/>
          </a:prstGeom>
          <a:ln w="12700">
            <a:miter lim="400000"/>
          </a:ln>
        </p:spPr>
      </p:pic>
      <p:sp>
        <p:nvSpPr>
          <p:cNvPr id="287" name="Rectangle 34"/>
          <p:cNvSpPr/>
          <p:nvPr/>
        </p:nvSpPr>
        <p:spPr>
          <a:xfrm>
            <a:off x="10585826" y="609600"/>
            <a:ext cx="1602998" cy="136819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Berlin">
  <a:themeElements>
    <a:clrScheme name="Berli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0000FF"/>
      </a:hlink>
      <a:folHlink>
        <a:srgbClr val="FF00FF"/>
      </a:folHlink>
    </a:clrScheme>
    <a:fontScheme name="Berlin">
      <a:majorFont>
        <a:latin typeface="Helvetica"/>
        <a:ea typeface="Helvetica"/>
        <a:cs typeface="Helvetica"/>
      </a:majorFont>
      <a:minorFont>
        <a:latin typeface="Trebuchet MS"/>
        <a:ea typeface="Trebuchet MS"/>
        <a:cs typeface="Trebuchet MS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296</TotalTime>
  <Words>488</Words>
  <Application>Microsoft Office PowerPoint</Application>
  <PresentationFormat>Widescreen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Tw Cen MT</vt:lpstr>
      <vt:lpstr>Circuit</vt:lpstr>
      <vt:lpstr>Automotive ECU Communication  Framework Using CAN Protocol</vt:lpstr>
      <vt:lpstr>CONTENTS</vt:lpstr>
      <vt:lpstr>Introduction:</vt:lpstr>
      <vt:lpstr>PROBLEM STATEMENT &amp; OBJECTIVE</vt:lpstr>
      <vt:lpstr>LITERATURE SURVEY</vt:lpstr>
      <vt:lpstr>PROPOSED SYSTEM</vt:lpstr>
      <vt:lpstr>BLOCK DIAGRAM</vt:lpstr>
      <vt:lpstr>HARDWARE / SOFTWARE USED</vt:lpstr>
      <vt:lpstr>IMPLEMENTATION :</vt:lpstr>
      <vt:lpstr>RESULTS</vt:lpstr>
      <vt:lpstr>CONCLUSION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Sachin Rawat</cp:lastModifiedBy>
  <cp:revision>18</cp:revision>
  <dcterms:modified xsi:type="dcterms:W3CDTF">2026-03-09T09:02:08Z</dcterms:modified>
</cp:coreProperties>
</file>